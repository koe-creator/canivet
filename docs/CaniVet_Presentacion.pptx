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D9B57">
              <a:alpha val="15000"/>
            </a:srgbClr>
          </a:solidFill>
          <a:ln w="12700">
            <a:solidFill>
              <a:srgbClr val="2D9B5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SISTEMA VETERINARIO WEB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CaniVet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Gestión Veterinaria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5029200" cy="0"/>
          </a:xfrm>
          <a:prstGeom prst="line">
            <a:avLst/>
          </a:prstGeom>
          <a:noFill/>
          <a:ln w="19050">
            <a:solidFill>
              <a:srgbClr val="2D9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Parroquial Santa Ana</a:t>
            </a:r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2026   |   Versión 1.0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Yeuri Lorenzo Díaz</a:t>
            </a:r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Luis Rijo Rodríguez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772400" y="10972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20040" y="2743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CaniVet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20040" y="1005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20040" y="1554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integral para la administración completa de clínicas y consultorios veterinarios.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25146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D9B57">
              <a:alpha val="40000"/>
            </a:srgbClr>
          </a:solidFill>
          <a:ln w="12700">
            <a:solidFill>
              <a:srgbClr val="2D9B57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463040" y="2514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317296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D9B57">
              <a:alpha val="40000"/>
            </a:srgbClr>
          </a:solidFill>
          <a:ln w="12700">
            <a:solidFill>
              <a:srgbClr val="2D9B57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1729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63040" y="31729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Implementados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383133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D9B57">
              <a:alpha val="40000"/>
            </a:srgbClr>
          </a:solidFill>
          <a:ln w="12700">
            <a:solidFill>
              <a:srgbClr val="2D9B57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83133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463040" y="383133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0" y="2743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572000" y="77724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91440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777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en papel y Excel sin trazabilidad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0" y="1344168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48132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1344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seguimiento de historial clínico digital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0" y="1911096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04825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0" y="19110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agendar citas fuera del horario de oficina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0" y="2478024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61518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0" y="247802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financiero centralizado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0" y="3044952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3182112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gestionado manualmente sin alertas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0" y="3931920"/>
            <a:ext cx="4297680" cy="822960"/>
          </a:xfrm>
          <a:prstGeom prst="roundRect">
            <a:avLst>
              <a:gd name="adj" fmla="val 11111"/>
            </a:avLst>
          </a:prstGeom>
          <a:solidFill>
            <a:srgbClr val="D6EAD8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096512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074920" y="39319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CaniVet digitaliza y centraliza toda la operación clínica en una sola plataforma.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— Sistema de Gestión Veterinaria  |  Instituto Politécnico Parroquial Santa Ana  |  2026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2286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del Sistema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98080" y="246888"/>
            <a:ext cx="2793492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246888"/>
            <a:ext cx="27934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25 Requerimientos Funcionales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8600" y="91440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2412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5156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0241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" y="157276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dueños de mascotas con datos de contacto y estado de cuenta.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14600" y="91440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06040" y="102412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72" y="105156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10241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Mascotas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606040" y="157276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completa: historial clínico, vacunas, fotos y estado de salud.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00600" y="91440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92040" y="102412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5156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10241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892040" y="157276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médica con estados, reservas en línea y recordatorios automáticos.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086600" y="91440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178040" y="102412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051560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26680" y="10241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178040" y="157276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cobros, facturas PDF, efectivo y Stripe online.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228600" y="28346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20040" y="294436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971800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8680" y="29443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Inventario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320040" y="349300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medicamentos y materiales con alertas de stock bajo.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2514600" y="28346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2606040" y="294436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3472" y="2971800"/>
            <a:ext cx="402336" cy="4023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154680" y="29443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Reportes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2606040" y="349300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financieras interactivas y exportación a CSV, PDF y JSON.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4800600" y="28346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4892040" y="294436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2971800"/>
            <a:ext cx="402336" cy="40233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440680" y="29443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Alertas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4892040" y="349300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de vacunas, citas próximas e inventario.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7086600" y="2834640"/>
            <a:ext cx="20574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7178040" y="2944368"/>
            <a:ext cx="457200" cy="45720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D6EAD8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5472" y="2971800"/>
            <a:ext cx="402336" cy="40233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726680" y="29443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Auditoría</a:t>
            </a:r>
            <a:endParaRPr lang="en-US" sz="1400" dirty="0"/>
          </a:p>
        </p:txBody>
      </p:sp>
      <p:sp>
        <p:nvSpPr>
          <p:cNvPr id="46" name="Text 35"/>
          <p:cNvSpPr/>
          <p:nvPr/>
        </p:nvSpPr>
        <p:spPr>
          <a:xfrm>
            <a:off x="7178040" y="349300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inmutable de cada acción: quién, qué y cuándo.</a:t>
            </a:r>
            <a:endParaRPr lang="en-US" sz="1050" dirty="0"/>
          </a:p>
        </p:txBody>
      </p:sp>
      <p:sp>
        <p:nvSpPr>
          <p:cNvPr id="47" name="Text 36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— Sistema de Gestión Veterinaria  |  Instituto Politécnico Parroquial Santa Ana  |  2026</a:t>
            </a:r>
            <a:endParaRPr lang="en-US" sz="800" dirty="0"/>
          </a:p>
        </p:txBody>
      </p:sp>
      <p:sp>
        <p:nvSpPr>
          <p:cNvPr id="48" name="Text 3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D9B57"/>
          </a:solidFill>
          <a:ln w="12700">
            <a:solidFill>
              <a:srgbClr val="2D9B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011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de Mascotas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406640" y="274320"/>
            <a:ext cx="2619756" cy="237744"/>
          </a:xfrm>
          <a:prstGeom prst="roundRect">
            <a:avLst>
              <a:gd name="adj" fmla="val 23077"/>
            </a:avLst>
          </a:prstGeom>
          <a:solidFill>
            <a:srgbClr val="2D9B57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274320"/>
            <a:ext cx="2619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Historial Clínico + Vacunas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Ficha de Mascota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508760"/>
            <a:ext cx="868680" cy="868680"/>
          </a:xfrm>
          <a:prstGeom prst="ellipse">
            <a:avLst/>
          </a:prstGeom>
          <a:solidFill>
            <a:srgbClr val="D6EAD8"/>
          </a:solidFill>
          <a:ln w="12700">
            <a:solidFill>
              <a:srgbClr val="A8D5B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749808" cy="7498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69164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Retriever · Macho · 3 años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691640" y="219456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D6EAD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691640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</a:rPr>
              <a:t>● Activo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94360" y="2615184"/>
            <a:ext cx="35204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26334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011680" y="26334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Pérez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035808"/>
            <a:ext cx="35204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0540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011680" y="30540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kg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94360" y="3456432"/>
            <a:ext cx="35204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01168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94360" y="3877056"/>
            <a:ext cx="3520440" cy="0"/>
          </a:xfrm>
          <a:prstGeom prst="line">
            <a:avLst/>
          </a:prstGeom>
          <a:noFill/>
          <a:ln w="6350">
            <a:solidFill>
              <a:srgbClr val="F3F4F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4360" y="3895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visita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2011680" y="389534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Apr 2026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Historial Clínico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4663440" y="132588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754880" y="14173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D9B57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0" y="1417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15 Abr 2026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669280" y="13807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general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669280" y="16916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saludable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663440" y="2130552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54880" y="222199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54880" y="2221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02 Mar 2026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5669280" y="2185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669280" y="2496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Antirrábica aplicada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663440" y="2935224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754880" y="3026664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30266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18 Ene 2026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5669280" y="2990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uñas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5669280" y="33009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estético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4663440" y="3767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Próximas Vacunas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4663440" y="4114800"/>
            <a:ext cx="19659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4233672"/>
            <a:ext cx="256032" cy="256032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120640" y="4133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Antirrábica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5120640" y="44074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 2026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4754880" y="4645152"/>
            <a:ext cx="137160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766560" y="4114800"/>
            <a:ext cx="19659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4233672"/>
            <a:ext cx="256032" cy="25603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7223760" y="4133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Parvovirus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7223760" y="44074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 2026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6858000" y="4645152"/>
            <a:ext cx="137160" cy="594360"/>
          </a:xfrm>
          <a:prstGeom prst="roundRect">
            <a:avLst/>
          </a:prstGeom>
          <a:solidFill>
            <a:srgbClr val="2D9B57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— Sistema de Gestión Veterinaria  |  Instituto Politécnico Parroquial Santa Ana  |  2026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 Citas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223760" y="256032"/>
            <a:ext cx="2185416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23760" y="2560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Reserva Pública Online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28600" y="9144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8328" y="103327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9144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84248" y="9144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93976" y="1033272"/>
            <a:ext cx="146304" cy="146304"/>
          </a:xfrm>
          <a:prstGeom prst="ellipse">
            <a:avLst/>
          </a:prstGeom>
          <a:solidFill>
            <a:srgbClr val="2D9B57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04288" y="9144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39896" y="9144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9624" y="103327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9936" y="9144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95544" y="9144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D6EAD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05272" y="1033272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15584" y="9144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51192" y="91440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60920" y="1033272"/>
            <a:ext cx="146304" cy="14630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71232" y="9144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1417320"/>
            <a:ext cx="868680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472" y="1554480"/>
            <a:ext cx="749808" cy="457200"/>
          </a:xfrm>
          <a:prstGeom prst="roundRect">
            <a:avLst>
              <a:gd name="adj" fmla="val 16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15544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09:00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34440" y="1490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Rodríguez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34440" y="1810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• Labrador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7600" y="1490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general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657600" y="1810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Martínez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858000" y="163677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16367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En curso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503920" y="1600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B5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28600" y="2267712"/>
            <a:ext cx="868680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47472" y="2404872"/>
            <a:ext cx="749808" cy="457200"/>
          </a:xfrm>
          <a:prstGeom prst="roundRect">
            <a:avLst>
              <a:gd name="adj" fmla="val 16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7472" y="240487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10:30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234440" y="23408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Castillo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234440" y="2660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• Bulldog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657600" y="23408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657600" y="2660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López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858000" y="248716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58000" y="2487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B57"/>
                </a:solidFill>
              </a:rPr>
              <a:t>Confirmada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503920" y="24505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B5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228600" y="3118104"/>
            <a:ext cx="868680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47472" y="3255264"/>
            <a:ext cx="749808" cy="457200"/>
          </a:xfrm>
          <a:prstGeom prst="roundRect">
            <a:avLst>
              <a:gd name="adj" fmla="val 16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47472" y="3255264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11:45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234440" y="31912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Jiménez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123444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• Persa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3657600" y="31912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y corte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365760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Martínez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858000" y="333756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58000" y="3337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Pendiente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503920" y="330098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B5"/>
                </a:solidFill>
              </a:rPr>
              <a:t>→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228600" y="3968496"/>
            <a:ext cx="8686800" cy="75895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347472" y="4105656"/>
            <a:ext cx="749808" cy="457200"/>
          </a:xfrm>
          <a:prstGeom prst="roundRect">
            <a:avLst>
              <a:gd name="adj" fmla="val 16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47472" y="410565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14:00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123444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Torres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1234440" y="4361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Simba • Maine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3657600" y="4041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dental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3657600" y="4361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López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6858000" y="418795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858000" y="41879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B57"/>
                </a:solidFill>
              </a:rPr>
              <a:t>Confirmada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8503920" y="41513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B5"/>
                </a:solidFill>
              </a:rPr>
              <a:t>→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— Sistema de Gestión Veterinaria  |  Instituto Politécnico Parroquial Santa Ana  |  2026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14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37160"/>
            <a:ext cx="822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CaniVet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" y="768096"/>
            <a:ext cx="1353312" cy="438912"/>
          </a:xfrm>
          <a:prstGeom prst="roundRect">
            <a:avLst>
              <a:gd name="adj" fmla="val 12500"/>
            </a:avLst>
          </a:prstGeom>
          <a:solidFill>
            <a:srgbClr val="2D9B57">
              <a:alpha val="60000"/>
            </a:srgbClr>
          </a:solidFill>
          <a:ln w="12700">
            <a:solidFill>
              <a:srgbClr val="2D9B57">
                <a:alpha val="6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4124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" y="74980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64592" y="1408176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3776" y="13167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64592" y="1975104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3776" y="188366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64592" y="2542032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3776" y="245059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64592" y="3108960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93776" y="30175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64592" y="3675888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93776" y="358444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164592" y="4242816"/>
            <a:ext cx="256032" cy="25603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3776" y="415137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000" dirty="0"/>
          </a:p>
        </p:txBody>
      </p:sp>
      <p:sp>
        <p:nvSpPr>
          <p:cNvPr id="20" name="Shape 10"/>
          <p:cNvSpPr/>
          <p:nvPr/>
        </p:nvSpPr>
        <p:spPr>
          <a:xfrm>
            <a:off x="1463040" y="0"/>
            <a:ext cx="7680960" cy="62179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1600200" y="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Bienvenido, Dr. Martínez — Panel de Control</a:t>
            </a:r>
            <a:endParaRPr lang="en-US" sz="1300" dirty="0"/>
          </a:p>
        </p:txBody>
      </p:sp>
      <p:sp>
        <p:nvSpPr>
          <p:cNvPr id="22" name="Shape 12"/>
          <p:cNvSpPr/>
          <p:nvPr/>
        </p:nvSpPr>
        <p:spPr>
          <a:xfrm>
            <a:off x="8046720" y="19202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8046720" y="1920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3C"/>
                </a:solidFill>
              </a:rPr>
              <a:t>● En línea</a:t>
            </a:r>
            <a:endParaRPr lang="en-US" sz="900" dirty="0"/>
          </a:p>
        </p:txBody>
      </p:sp>
      <p:sp>
        <p:nvSpPr>
          <p:cNvPr id="24" name="Shape 14"/>
          <p:cNvSpPr/>
          <p:nvPr/>
        </p:nvSpPr>
        <p:spPr>
          <a:xfrm>
            <a:off x="1600200" y="777240"/>
            <a:ext cx="175564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1691640" y="8778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1A6B3C">
              <a:alpha val="15000"/>
            </a:srgbClr>
          </a:solidFill>
          <a:ln w="12700">
            <a:solidFill>
              <a:srgbClr val="1A6B3C">
                <a:alpha val="15000"/>
              </a:srgbClr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9072" y="905256"/>
            <a:ext cx="292608" cy="29260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691640" y="128016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000" dirty="0"/>
          </a:p>
        </p:txBody>
      </p:sp>
      <p:sp>
        <p:nvSpPr>
          <p:cNvPr id="28" name="Text 17"/>
          <p:cNvSpPr/>
          <p:nvPr/>
        </p:nvSpPr>
        <p:spPr>
          <a:xfrm>
            <a:off x="1691640" y="15544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hoy</a:t>
            </a:r>
            <a:endParaRPr lang="en-US" sz="950" dirty="0"/>
          </a:p>
        </p:txBody>
      </p:sp>
      <p:sp>
        <p:nvSpPr>
          <p:cNvPr id="29" name="Shape 18"/>
          <p:cNvSpPr/>
          <p:nvPr/>
        </p:nvSpPr>
        <p:spPr>
          <a:xfrm>
            <a:off x="3474720" y="777240"/>
            <a:ext cx="175564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3566160" y="8778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3592" y="905256"/>
            <a:ext cx="292608" cy="29260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566160" y="128016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2000" dirty="0"/>
          </a:p>
        </p:txBody>
      </p:sp>
      <p:sp>
        <p:nvSpPr>
          <p:cNvPr id="33" name="Text 21"/>
          <p:cNvSpPr/>
          <p:nvPr/>
        </p:nvSpPr>
        <p:spPr>
          <a:xfrm>
            <a:off x="3566160" y="15544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clientes</a:t>
            </a:r>
            <a:endParaRPr lang="en-US" sz="950" dirty="0"/>
          </a:p>
        </p:txBody>
      </p:sp>
      <p:sp>
        <p:nvSpPr>
          <p:cNvPr id="34" name="Shape 22"/>
          <p:cNvSpPr/>
          <p:nvPr/>
        </p:nvSpPr>
        <p:spPr>
          <a:xfrm>
            <a:off x="5349240" y="777240"/>
            <a:ext cx="175564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5440680" y="8778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15000"/>
              </a:srgbClr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8112" y="905256"/>
            <a:ext cx="292608" cy="29260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440680" y="128016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143</a:t>
            </a:r>
            <a:endParaRPr lang="en-US" sz="2000" dirty="0"/>
          </a:p>
        </p:txBody>
      </p:sp>
      <p:sp>
        <p:nvSpPr>
          <p:cNvPr id="38" name="Text 25"/>
          <p:cNvSpPr/>
          <p:nvPr/>
        </p:nvSpPr>
        <p:spPr>
          <a:xfrm>
            <a:off x="5440680" y="15544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 activas</a:t>
            </a:r>
            <a:endParaRPr lang="en-US" sz="950" dirty="0"/>
          </a:p>
        </p:txBody>
      </p:sp>
      <p:sp>
        <p:nvSpPr>
          <p:cNvPr id="39" name="Shape 26"/>
          <p:cNvSpPr/>
          <p:nvPr/>
        </p:nvSpPr>
        <p:spPr>
          <a:xfrm>
            <a:off x="7223760" y="777240"/>
            <a:ext cx="175564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27"/>
          <p:cNvSpPr/>
          <p:nvPr/>
        </p:nvSpPr>
        <p:spPr>
          <a:xfrm>
            <a:off x="7315200" y="87782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D9B57">
              <a:alpha val="15000"/>
            </a:srgbClr>
          </a:solidFill>
          <a:ln w="12700">
            <a:solidFill>
              <a:srgbClr val="2D9B57">
                <a:alpha val="15000"/>
              </a:srgbClr>
            </a:solidFill>
            <a:prstDash val="solid"/>
          </a:ln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2632" y="905256"/>
            <a:ext cx="292608" cy="29260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315200" y="128016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9B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RD$84K</a:t>
            </a:r>
            <a:endParaRPr lang="en-US" sz="2000" dirty="0"/>
          </a:p>
        </p:txBody>
      </p:sp>
      <p:sp>
        <p:nvSpPr>
          <p:cNvPr id="43" name="Text 29"/>
          <p:cNvSpPr/>
          <p:nvPr/>
        </p:nvSpPr>
        <p:spPr>
          <a:xfrm>
            <a:off x="7315200" y="1554480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del mes</a:t>
            </a:r>
            <a:endParaRPr lang="en-US" sz="950" dirty="0"/>
          </a:p>
        </p:txBody>
      </p:sp>
      <p:sp>
        <p:nvSpPr>
          <p:cNvPr id="44" name="Text 30"/>
          <p:cNvSpPr/>
          <p:nvPr/>
        </p:nvSpPr>
        <p:spPr>
          <a:xfrm>
            <a:off x="1600200" y="18745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Citas de Hoy</a:t>
            </a:r>
            <a:endParaRPr lang="en-US" sz="1500" dirty="0"/>
          </a:p>
        </p:txBody>
      </p:sp>
      <p:sp>
        <p:nvSpPr>
          <p:cNvPr id="45" name="Shape 31"/>
          <p:cNvSpPr/>
          <p:nvPr/>
        </p:nvSpPr>
        <p:spPr>
          <a:xfrm>
            <a:off x="1600200" y="2286000"/>
            <a:ext cx="4297680" cy="548640"/>
          </a:xfrm>
          <a:prstGeom prst="roundRect">
            <a:avLst>
              <a:gd name="adj" fmla="val 16667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32"/>
          <p:cNvSpPr/>
          <p:nvPr/>
        </p:nvSpPr>
        <p:spPr>
          <a:xfrm>
            <a:off x="1719072" y="22860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1050" dirty="0"/>
          </a:p>
        </p:txBody>
      </p:sp>
      <p:sp>
        <p:nvSpPr>
          <p:cNvPr id="47" name="Text 33"/>
          <p:cNvSpPr/>
          <p:nvPr/>
        </p:nvSpPr>
        <p:spPr>
          <a:xfrm>
            <a:off x="2423160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R. • Luna</a:t>
            </a:r>
            <a:endParaRPr lang="en-US" sz="1100" dirty="0"/>
          </a:p>
        </p:txBody>
      </p:sp>
      <p:sp>
        <p:nvSpPr>
          <p:cNvPr id="48" name="Text 34"/>
          <p:cNvSpPr/>
          <p:nvPr/>
        </p:nvSpPr>
        <p:spPr>
          <a:xfrm>
            <a:off x="4160520" y="22860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050" dirty="0"/>
          </a:p>
        </p:txBody>
      </p:sp>
      <p:sp>
        <p:nvSpPr>
          <p:cNvPr id="49" name="Shape 35"/>
          <p:cNvSpPr/>
          <p:nvPr/>
        </p:nvSpPr>
        <p:spPr>
          <a:xfrm>
            <a:off x="5440680" y="242316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5440680" y="24231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En curso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1600200" y="2926080"/>
            <a:ext cx="42976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Text 38"/>
          <p:cNvSpPr/>
          <p:nvPr/>
        </p:nvSpPr>
        <p:spPr>
          <a:xfrm>
            <a:off x="1719072" y="292608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</a:t>
            </a:r>
            <a:endParaRPr lang="en-US" sz="1050" dirty="0"/>
          </a:p>
        </p:txBody>
      </p:sp>
      <p:sp>
        <p:nvSpPr>
          <p:cNvPr id="53" name="Text 39"/>
          <p:cNvSpPr/>
          <p:nvPr/>
        </p:nvSpPr>
        <p:spPr>
          <a:xfrm>
            <a:off x="2423160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C. • Rocky</a:t>
            </a:r>
            <a:endParaRPr lang="en-US" sz="1100" dirty="0"/>
          </a:p>
        </p:txBody>
      </p:sp>
      <p:sp>
        <p:nvSpPr>
          <p:cNvPr id="54" name="Text 40"/>
          <p:cNvSpPr/>
          <p:nvPr/>
        </p:nvSpPr>
        <p:spPr>
          <a:xfrm>
            <a:off x="4160520" y="292608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Vacunación</a:t>
            </a:r>
            <a:endParaRPr lang="en-US" sz="1050" dirty="0"/>
          </a:p>
        </p:txBody>
      </p:sp>
      <p:sp>
        <p:nvSpPr>
          <p:cNvPr id="55" name="Shape 41"/>
          <p:cNvSpPr/>
          <p:nvPr/>
        </p:nvSpPr>
        <p:spPr>
          <a:xfrm>
            <a:off x="5440680" y="306324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D6EAD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5440680" y="30632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3C"/>
                </a:solidFill>
              </a:rPr>
              <a:t>Confirmada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1600200" y="3566160"/>
            <a:ext cx="4297680" cy="548640"/>
          </a:xfrm>
          <a:prstGeom prst="roundRect">
            <a:avLst>
              <a:gd name="adj" fmla="val 16667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Text 44"/>
          <p:cNvSpPr/>
          <p:nvPr/>
        </p:nvSpPr>
        <p:spPr>
          <a:xfrm>
            <a:off x="1719072" y="35661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</a:t>
            </a:r>
            <a:endParaRPr lang="en-US" sz="1050" dirty="0"/>
          </a:p>
        </p:txBody>
      </p:sp>
      <p:sp>
        <p:nvSpPr>
          <p:cNvPr id="59" name="Text 45"/>
          <p:cNvSpPr/>
          <p:nvPr/>
        </p:nvSpPr>
        <p:spPr>
          <a:xfrm>
            <a:off x="2423160" y="3566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J. • Mia</a:t>
            </a:r>
            <a:endParaRPr lang="en-US" sz="1100" dirty="0"/>
          </a:p>
        </p:txBody>
      </p:sp>
      <p:sp>
        <p:nvSpPr>
          <p:cNvPr id="60" name="Text 46"/>
          <p:cNvSpPr/>
          <p:nvPr/>
        </p:nvSpPr>
        <p:spPr>
          <a:xfrm>
            <a:off x="4160520" y="3566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y corte</a:t>
            </a:r>
            <a:endParaRPr lang="en-US" sz="1050" dirty="0"/>
          </a:p>
        </p:txBody>
      </p:sp>
      <p:sp>
        <p:nvSpPr>
          <p:cNvPr id="61" name="Shape 47"/>
          <p:cNvSpPr/>
          <p:nvPr/>
        </p:nvSpPr>
        <p:spPr>
          <a:xfrm>
            <a:off x="5440680" y="370332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5440680" y="3703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Pendiente</a:t>
            </a:r>
            <a:endParaRPr lang="en-US" sz="900" dirty="0"/>
          </a:p>
        </p:txBody>
      </p:sp>
      <p:sp>
        <p:nvSpPr>
          <p:cNvPr id="63" name="Text 49"/>
          <p:cNvSpPr/>
          <p:nvPr/>
        </p:nvSpPr>
        <p:spPr>
          <a:xfrm>
            <a:off x="6080760" y="18745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Vacunas Pendientes</a:t>
            </a:r>
            <a:endParaRPr lang="en-US" sz="1300" dirty="0"/>
          </a:p>
        </p:txBody>
      </p:sp>
      <p:sp>
        <p:nvSpPr>
          <p:cNvPr id="64" name="Shape 50"/>
          <p:cNvSpPr/>
          <p:nvPr/>
        </p:nvSpPr>
        <p:spPr>
          <a:xfrm>
            <a:off x="6080760" y="228600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9632" y="2441448"/>
            <a:ext cx="237744" cy="237744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6510528" y="23500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</a:t>
            </a:r>
            <a:endParaRPr lang="en-US" sz="1100" dirty="0"/>
          </a:p>
        </p:txBody>
      </p:sp>
      <p:sp>
        <p:nvSpPr>
          <p:cNvPr id="67" name="Text 52"/>
          <p:cNvSpPr/>
          <p:nvPr/>
        </p:nvSpPr>
        <p:spPr>
          <a:xfrm>
            <a:off x="6510528" y="257860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Antirrábica</a:t>
            </a:r>
            <a:endParaRPr lang="en-US" sz="950" dirty="0"/>
          </a:p>
        </p:txBody>
      </p:sp>
      <p:sp>
        <p:nvSpPr>
          <p:cNvPr id="68" name="Shape 53"/>
          <p:cNvSpPr/>
          <p:nvPr/>
        </p:nvSpPr>
        <p:spPr>
          <a:xfrm>
            <a:off x="8046720" y="243230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54"/>
          <p:cNvSpPr/>
          <p:nvPr/>
        </p:nvSpPr>
        <p:spPr>
          <a:xfrm>
            <a:off x="8046720" y="24323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3 días</a:t>
            </a:r>
            <a:endParaRPr lang="en-US" sz="900" dirty="0"/>
          </a:p>
        </p:txBody>
      </p:sp>
      <p:sp>
        <p:nvSpPr>
          <p:cNvPr id="70" name="Shape 55"/>
          <p:cNvSpPr/>
          <p:nvPr/>
        </p:nvSpPr>
        <p:spPr>
          <a:xfrm>
            <a:off x="6080760" y="292608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9632" y="3081528"/>
            <a:ext cx="237744" cy="237744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6510528" y="2990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</a:t>
            </a:r>
            <a:endParaRPr lang="en-US" sz="1100" dirty="0"/>
          </a:p>
        </p:txBody>
      </p:sp>
      <p:sp>
        <p:nvSpPr>
          <p:cNvPr id="73" name="Text 57"/>
          <p:cNvSpPr/>
          <p:nvPr/>
        </p:nvSpPr>
        <p:spPr>
          <a:xfrm>
            <a:off x="6510528" y="321868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Parvovirus</a:t>
            </a:r>
            <a:endParaRPr lang="en-US" sz="950" dirty="0"/>
          </a:p>
        </p:txBody>
      </p:sp>
      <p:sp>
        <p:nvSpPr>
          <p:cNvPr id="74" name="Shape 58"/>
          <p:cNvSpPr/>
          <p:nvPr/>
        </p:nvSpPr>
        <p:spPr>
          <a:xfrm>
            <a:off x="8046720" y="307238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59"/>
          <p:cNvSpPr/>
          <p:nvPr/>
        </p:nvSpPr>
        <p:spPr>
          <a:xfrm>
            <a:off x="8046720" y="30723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7 días</a:t>
            </a:r>
            <a:endParaRPr lang="en-US" sz="900" dirty="0"/>
          </a:p>
        </p:txBody>
      </p:sp>
      <p:sp>
        <p:nvSpPr>
          <p:cNvPr id="76" name="Shape 60"/>
          <p:cNvSpPr/>
          <p:nvPr/>
        </p:nvSpPr>
        <p:spPr>
          <a:xfrm>
            <a:off x="6080760" y="356616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9632" y="3721608"/>
            <a:ext cx="237744" cy="237744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6510528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Toby</a:t>
            </a:r>
            <a:endParaRPr lang="en-US" sz="1100" dirty="0"/>
          </a:p>
        </p:txBody>
      </p:sp>
      <p:sp>
        <p:nvSpPr>
          <p:cNvPr id="79" name="Text 62"/>
          <p:cNvSpPr/>
          <p:nvPr/>
        </p:nvSpPr>
        <p:spPr>
          <a:xfrm>
            <a:off x="6510528" y="38587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Moquillo</a:t>
            </a:r>
            <a:endParaRPr lang="en-US" sz="950" dirty="0"/>
          </a:p>
        </p:txBody>
      </p:sp>
      <p:sp>
        <p:nvSpPr>
          <p:cNvPr id="80" name="Shape 63"/>
          <p:cNvSpPr/>
          <p:nvPr/>
        </p:nvSpPr>
        <p:spPr>
          <a:xfrm>
            <a:off x="8046720" y="371246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EE2E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1" name="Text 64"/>
          <p:cNvSpPr/>
          <p:nvPr/>
        </p:nvSpPr>
        <p:spPr>
          <a:xfrm>
            <a:off x="8046720" y="37124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Vencida</a:t>
            </a:r>
            <a:endParaRPr lang="en-US" sz="900" dirty="0"/>
          </a:p>
        </p:txBody>
      </p:sp>
      <p:sp>
        <p:nvSpPr>
          <p:cNvPr id="82" name="Text 65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— Sistema de Gestión Veterinaria  |  Instituto Politécnico Parroquial Santa Ana  |  2026</a:t>
            </a:r>
            <a:endParaRPr lang="en-US" sz="800" dirty="0"/>
          </a:p>
        </p:txBody>
      </p:sp>
      <p:sp>
        <p:nvSpPr>
          <p:cNvPr id="83" name="Text 6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de Pagos y Facturación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0" y="246888"/>
            <a:ext cx="2011680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246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Stripe + Factura PDF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868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Pagos Recientes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1261872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261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37360" y="1261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1261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0" y="12618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645920"/>
            <a:ext cx="4572000" cy="521208"/>
          </a:xfrm>
          <a:prstGeom prst="roundRect">
            <a:avLst>
              <a:gd name="adj" fmla="val 17544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" y="1645920"/>
            <a:ext cx="126187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Rodríguez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737360" y="1645920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+ Vacuna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0" y="1645920"/>
            <a:ext cx="731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RD$ 2,800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005072" y="1773936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D6EAD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05072" y="177393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C"/>
                </a:solidFill>
              </a:rPr>
              <a:t>Efectivo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2258568"/>
            <a:ext cx="457200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84048" y="2258568"/>
            <a:ext cx="126187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Castillo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737360" y="2258568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menor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200400" y="2258568"/>
            <a:ext cx="731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RD$ 8,500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005072" y="2386584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05072" y="23865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Stripe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2871216"/>
            <a:ext cx="4572000" cy="521208"/>
          </a:xfrm>
          <a:prstGeom prst="roundRect">
            <a:avLst>
              <a:gd name="adj" fmla="val 17544"/>
            </a:avLst>
          </a:prstGeom>
          <a:solidFill>
            <a:srgbClr val="F0FA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84048" y="2871216"/>
            <a:ext cx="126187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Jiménez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737360" y="287121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y corte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0" y="2871216"/>
            <a:ext cx="731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RD$ 1,200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005072" y="2999232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05072" y="29992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Transfer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3483864"/>
            <a:ext cx="457200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84048" y="3483864"/>
            <a:ext cx="126187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Torres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737360" y="3483864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Guardería 3 días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200400" y="3483864"/>
            <a:ext cx="7315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RD$ 3,600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005072" y="3611880"/>
            <a:ext cx="713232" cy="237744"/>
          </a:xfrm>
          <a:prstGeom prst="roundRect">
            <a:avLst>
              <a:gd name="adj" fmla="val 19231"/>
            </a:avLst>
          </a:prstGeom>
          <a:solidFill>
            <a:srgbClr val="D6EAD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05072" y="36118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B3C"/>
                </a:solidFill>
              </a:rPr>
              <a:t>Efectivo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12064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Factura Generada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5120640" y="1261872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120640" y="1261872"/>
            <a:ext cx="3749040" cy="6858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5230368" y="1353312"/>
            <a:ext cx="347472" cy="34747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650992" y="1353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CaniVet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7132320" y="1353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 #00142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650992" y="16733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Parroquial Santa Ana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5212080" y="1993392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230368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269480" y="2011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Cant.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7772400" y="2011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5212080" y="2286000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230368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general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7269480" y="23317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7772400" y="2331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RD$ 1,500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5230368" y="2715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 antirrábica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7269480" y="27157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7772400" y="2715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RD$ 1,300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5212080" y="3127248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5212080" y="3182112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D6EAD8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5349240" y="31821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TOTAL:</a:t>
            </a:r>
            <a:endParaRPr lang="en-US" sz="1300" dirty="0"/>
          </a:p>
        </p:txBody>
      </p:sp>
      <p:sp>
        <p:nvSpPr>
          <p:cNvPr id="58" name="Text 54"/>
          <p:cNvSpPr/>
          <p:nvPr/>
        </p:nvSpPr>
        <p:spPr>
          <a:xfrm>
            <a:off x="6858000" y="31821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RD$ 2,800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5230368" y="3675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Ana Rodríguez   |   Mascota: Luna   |   Método: Efectivo</a:t>
            </a:r>
            <a:endParaRPr lang="en-US" sz="850" dirty="0"/>
          </a:p>
        </p:txBody>
      </p:sp>
      <p:sp>
        <p:nvSpPr>
          <p:cNvPr id="60" name="Text 56"/>
          <p:cNvSpPr/>
          <p:nvPr/>
        </p:nvSpPr>
        <p:spPr>
          <a:xfrm>
            <a:off x="5230368" y="3931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25/05/2026   |   Dr. Martínez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6400800" y="422452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400800" y="4224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Descargar PDF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— Sistema de Gestión Veterinaria  |  Instituto Politécnico Parroquial Santa Ana  |  2026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de Reportes Financieros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406640" y="246888"/>
            <a:ext cx="2185416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246888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Chart.js + Exportación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8686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RD$ 84,200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del mes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41448" y="8686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41448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441448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prestados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08576" y="8686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08576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08576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activos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75704" y="8686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75704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B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98.2%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75704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completadas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Ingresos Mensuales — Últimos 6 Meses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4320" y="2057400"/>
            <a:ext cx="50292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2984602"/>
            <a:ext cx="475488" cy="855878"/>
          </a:xfrm>
          <a:prstGeom prst="roundRect">
            <a:avLst>
              <a:gd name="adj" fmla="val 7692"/>
            </a:avLst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63713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43784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94360" y="3913632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344168" y="2721254"/>
            <a:ext cx="475488" cy="1119226"/>
          </a:xfrm>
          <a:prstGeom prst="roundRect">
            <a:avLst>
              <a:gd name="adj" fmla="val 7692"/>
            </a:avLst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8448" y="2373782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57256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344168" y="3913632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093976" y="2622499"/>
            <a:ext cx="475488" cy="1217981"/>
          </a:xfrm>
          <a:prstGeom prst="roundRect">
            <a:avLst>
              <a:gd name="adj" fmla="val 7692"/>
            </a:avLst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48256" y="2275027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62308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093976" y="3913632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843784" y="2770632"/>
            <a:ext cx="475488" cy="1069848"/>
          </a:xfrm>
          <a:prstGeom prst="roundRect">
            <a:avLst>
              <a:gd name="adj" fmla="val 7692"/>
            </a:avLst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98064" y="242316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54730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2843784" y="3913632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593592" y="2507285"/>
            <a:ext cx="475488" cy="1333195"/>
          </a:xfrm>
          <a:prstGeom prst="roundRect">
            <a:avLst>
              <a:gd name="adj" fmla="val 7692"/>
            </a:avLst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47872" y="2159813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68202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593592" y="3913632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343400" y="2194560"/>
            <a:ext cx="475488" cy="1645920"/>
          </a:xfrm>
          <a:prstGeom prst="roundRect">
            <a:avLst>
              <a:gd name="adj" fmla="val 7692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97680" y="1847088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84200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343400" y="3913632"/>
            <a:ext cx="4754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" y="3904488"/>
            <a:ext cx="4709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7784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Servicios del Mes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577840" y="2057400"/>
            <a:ext cx="32918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715000" y="22768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89320" y="22128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863840" y="22128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715000" y="2596896"/>
            <a:ext cx="3063240" cy="0"/>
          </a:xfrm>
          <a:prstGeom prst="line">
            <a:avLst/>
          </a:prstGeom>
          <a:noFill/>
          <a:ln w="3810">
            <a:solidFill>
              <a:srgbClr val="F3F4F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715000" y="27340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D9B57"/>
          </a:solidFill>
          <a:ln w="12700">
            <a:solidFill>
              <a:srgbClr val="2D9B5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89320" y="26700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Vacunaciones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863840" y="26700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9B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24%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5715000" y="3054096"/>
            <a:ext cx="3063240" cy="0"/>
          </a:xfrm>
          <a:prstGeom prst="line">
            <a:avLst/>
          </a:prstGeom>
          <a:noFill/>
          <a:ln w="3810">
            <a:solidFill>
              <a:srgbClr val="F3F4F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715000" y="31912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89320" y="3127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863840" y="31272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19%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5715000" y="3511296"/>
            <a:ext cx="3063240" cy="0"/>
          </a:xfrm>
          <a:prstGeom prst="line">
            <a:avLst/>
          </a:prstGeom>
          <a:noFill/>
          <a:ln w="3810">
            <a:solidFill>
              <a:srgbClr val="F3F4F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715000" y="36484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989320" y="35844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y corte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7863840" y="35844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5715000" y="3968496"/>
            <a:ext cx="3063240" cy="0"/>
          </a:xfrm>
          <a:prstGeom prst="line">
            <a:avLst/>
          </a:prstGeom>
          <a:noFill/>
          <a:ln w="3810">
            <a:solidFill>
              <a:srgbClr val="F3F4F6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715000" y="41056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989320" y="4041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Guardería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863840" y="40416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7%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5715000" y="4425696"/>
            <a:ext cx="3063240" cy="0"/>
          </a:xfrm>
          <a:prstGeom prst="line">
            <a:avLst/>
          </a:prstGeom>
          <a:noFill/>
          <a:ln w="3810">
            <a:solidFill>
              <a:srgbClr val="F3F4F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74320" y="466344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F0FAF4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74320" y="46634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Exportar CSV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1993392" y="466344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993392" y="46634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Exportar PDF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3712464" y="466344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F0FAF4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712464" y="46634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Exportar JSON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— Sistema de Gestión Veterinaria  |  Instituto Politécnico Parroquial Santa Ana  |  2026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5B5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Técnica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 · Separación de capas · Escalable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548640" cy="548640"/>
          </a:xfrm>
          <a:prstGeom prst="ellipse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1E40AF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624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325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9659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7  ·  Tailwind CSS  ·  Chart.js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" y="2487168"/>
            <a:ext cx="2468880" cy="0"/>
          </a:xfrm>
          <a:prstGeom prst="line">
            <a:avLst/>
          </a:prstGeom>
          <a:noFill/>
          <a:ln w="6350">
            <a:solidFill>
              <a:srgbClr val="1E40A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256032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— Accesible desde cualquier dispositivo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63240" y="2350008"/>
            <a:ext cx="457200" cy="0"/>
          </a:xfrm>
          <a:prstGeom prst="line">
            <a:avLst/>
          </a:prstGeom>
          <a:noFill/>
          <a:ln w="25400">
            <a:solidFill>
              <a:srgbClr val="2D9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35808" y="21762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9B57"/>
                </a:solidFill>
              </a:rPr>
              <a:t>⟷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154680" y="11887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64408" y="1325880"/>
            <a:ext cx="548640" cy="548640"/>
          </a:xfrm>
          <a:prstGeom prst="ellipse">
            <a:avLst/>
          </a:prstGeom>
          <a:solidFill>
            <a:srgbClr val="1A6B3C">
              <a:alpha val="30000"/>
            </a:srgbClr>
          </a:solidFill>
          <a:ln w="12700">
            <a:solidFill>
              <a:srgbClr val="1A6B3C">
                <a:alpha val="3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362456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04488" y="1325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64408" y="19659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Flask 3.1  ·  API REST + JWT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64408" y="2487168"/>
            <a:ext cx="2468880" cy="0"/>
          </a:xfrm>
          <a:prstGeom prst="line">
            <a:avLst/>
          </a:prstGeom>
          <a:noFill/>
          <a:ln w="6350">
            <a:solidFill>
              <a:srgbClr val="1A6B3C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64408" y="256032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Repositorio + Servicio — Lógica de negocio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852160" y="2350008"/>
            <a:ext cx="457200" cy="0"/>
          </a:xfrm>
          <a:prstGeom prst="line">
            <a:avLst/>
          </a:prstGeom>
          <a:noFill/>
          <a:ln w="25400">
            <a:solidFill>
              <a:srgbClr val="2D9B5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24728" y="21762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9B57"/>
                </a:solidFill>
              </a:rPr>
              <a:t>⟷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5943600" y="118872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53328" y="1325880"/>
            <a:ext cx="548640" cy="548640"/>
          </a:xfrm>
          <a:prstGeom prst="ellipse">
            <a:avLst/>
          </a:prstGeom>
          <a:solidFill>
            <a:srgbClr val="6D28D9">
              <a:alpha val="30000"/>
            </a:srgbClr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362456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93408" y="1325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053328" y="196596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PostgreSQL 15  ·  Auth + Storage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053328" y="2487168"/>
            <a:ext cx="2468880" cy="0"/>
          </a:xfrm>
          <a:prstGeom prst="line">
            <a:avLst/>
          </a:prstGeom>
          <a:noFill/>
          <a:ln w="6350">
            <a:solidFill>
              <a:srgbClr val="6D28D9">
                <a:alpha val="4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053328" y="2560320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· JSONB · Auditoría · RLS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65760" y="36393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320040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3977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React 19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1755648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9333E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755648" y="3977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33EA"/>
                </a:solidFill>
              </a:rPr>
              <a:t>Vite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3191256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1A6B3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191256" y="3977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6B3C"/>
                </a:solidFill>
              </a:rPr>
              <a:t>Tailwind CSS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626864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2D9B5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626864" y="3977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9B57"/>
                </a:solidFill>
              </a:rPr>
              <a:t>Flask 3.1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062472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062472" y="3977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JWT Auth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7498080" y="39776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6D28D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498080" y="3977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</a:rPr>
              <a:t>Supabase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320040" y="43891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0369A1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20040" y="4389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9A1"/>
                </a:solidFill>
              </a:rPr>
              <a:t>PostgreSQL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1755648" y="43891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755648" y="4389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Chart.js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3191256" y="43891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5850EC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191256" y="4389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50EC"/>
                </a:solidFill>
              </a:rPr>
              <a:t>Stripe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4626864" y="43891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626864" y="4389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APScheduler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062472" y="43891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DB2777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062472" y="4389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B2777"/>
                </a:solidFill>
              </a:rPr>
              <a:t>SMTP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7498080" y="438912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C2128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498080" y="4389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jsPDF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CaniVet — Arquitectura  |  Instituto Politécnico Parroquial Santa Ana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572000" cy="4572000"/>
          </a:xfrm>
          <a:prstGeom prst="ellipse">
            <a:avLst/>
          </a:prstGeom>
          <a:solidFill>
            <a:srgbClr val="2D9B57">
              <a:alpha val="15000"/>
            </a:srgbClr>
          </a:solidFill>
          <a:ln w="12700">
            <a:solidFill>
              <a:srgbClr val="2D9B5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457200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28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CaniVet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Sistema Completo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la Gestión Veterinaria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08483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011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requerimientos funcionales implementados al 100%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5786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50545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clínico digital con calendario de vacunas automático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07238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9992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integrada con Stripe y generación de recibos PDF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49300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 de cada acción del sistema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40599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98678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por correo sin intervención manual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75120" y="1005840"/>
            <a:ext cx="2240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10789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0" y="1417320"/>
            <a:ext cx="1920240" cy="0"/>
          </a:xfrm>
          <a:prstGeom prst="line">
            <a:avLst/>
          </a:prstGeom>
          <a:noFill/>
          <a:ln w="6350">
            <a:solidFill>
              <a:srgbClr val="A8D5B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0876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9480" y="1508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Yeuri Lorenzo Díaz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269480" y="1792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858000" y="2057400"/>
            <a:ext cx="1920240" cy="0"/>
          </a:xfrm>
          <a:prstGeom prst="line">
            <a:avLst/>
          </a:prstGeom>
          <a:noFill/>
          <a:ln w="3810">
            <a:solidFill>
              <a:srgbClr val="D6EAD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121408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69480" y="2121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L. Rijo Rodríguez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269480" y="24048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Adm. de Proyecto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675120" y="306324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2D9B57">
              <a:alpha val="30000"/>
            </a:srgbClr>
          </a:solidFill>
          <a:ln w="12700">
            <a:solidFill>
              <a:srgbClr val="2D9B57">
                <a:alpha val="3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720840" y="3090672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Parroquial Santa 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5720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5B5"/>
                </a:solidFill>
              </a:rPr>
              <a:t>CaniVet | Sistema de Gestión Veterinaria | Versión 1.0 —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CaniVet — Presentación del Sistema</dc:title>
  <dc:subject>PptxGenJS Presentation</dc:subject>
  <dc:creator>PptxGenJS</dc:creator>
  <cp:lastModifiedBy>PptxGenJS</cp:lastModifiedBy>
  <cp:revision>1</cp:revision>
  <dcterms:created xsi:type="dcterms:W3CDTF">2026-05-25T14:48:47Z</dcterms:created>
  <dcterms:modified xsi:type="dcterms:W3CDTF">2026-05-25T14:48:47Z</dcterms:modified>
</cp:coreProperties>
</file>